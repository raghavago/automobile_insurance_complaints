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Allstate — Complaints by Type per Year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Upheld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</c:v>
                </c:pt>
                <c:pt idx="1">
                  <c:v>170</c:v>
                </c:pt>
                <c:pt idx="2">
                  <c:v>97</c:v>
                </c:pt>
                <c:pt idx="3">
                  <c:v>116</c:v>
                </c:pt>
                <c:pt idx="4">
                  <c:v>75</c:v>
                </c:pt>
                <c:pt idx="5">
                  <c:v>76</c:v>
                </c:pt>
                <c:pt idx="6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6-467F-8DAD-043FBCB250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Question of Fact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318</c:v>
                </c:pt>
                <c:pt idx="1">
                  <c:v>698</c:v>
                </c:pt>
                <c:pt idx="2">
                  <c:v>251</c:v>
                </c:pt>
                <c:pt idx="3">
                  <c:v>203</c:v>
                </c:pt>
                <c:pt idx="4">
                  <c:v>100</c:v>
                </c:pt>
                <c:pt idx="5">
                  <c:v>136</c:v>
                </c:pt>
                <c:pt idx="6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6-467F-8DAD-043FBCB250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Upheld</c:v>
                </c:pt>
              </c:strCache>
            </c:strRef>
          </c:tx>
          <c:spPr>
            <a:solidFill>
              <a:srgbClr val="7F8C8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525</c:v>
                </c:pt>
                <c:pt idx="1">
                  <c:v>482</c:v>
                </c:pt>
                <c:pt idx="2">
                  <c:v>312</c:v>
                </c:pt>
                <c:pt idx="3">
                  <c:v>297</c:v>
                </c:pt>
                <c:pt idx="4">
                  <c:v>188</c:v>
                </c:pt>
                <c:pt idx="5">
                  <c:v>251</c:v>
                </c:pt>
                <c:pt idx="6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6-467F-8DAD-043FBCB25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Total Complaints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Complaints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1023</c:v>
                </c:pt>
                <c:pt idx="1">
                  <c:v>1350</c:v>
                </c:pt>
                <c:pt idx="2">
                  <c:v>660</c:v>
                </c:pt>
                <c:pt idx="3">
                  <c:v>616</c:v>
                </c:pt>
                <c:pt idx="4">
                  <c:v>363</c:v>
                </c:pt>
                <c:pt idx="5">
                  <c:v>463</c:v>
                </c:pt>
                <c:pt idx="6">
                  <c:v>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0E-4FCB-A23E-F96D2AD7E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Complaint Ratio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 Ratio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0.14180000000000001</c:v>
                </c:pt>
                <c:pt idx="1">
                  <c:v>0.14230000000000001</c:v>
                </c:pt>
                <c:pt idx="2">
                  <c:v>8.6099999999999996E-2</c:v>
                </c:pt>
                <c:pt idx="3">
                  <c:v>0.11070000000000001</c:v>
                </c:pt>
                <c:pt idx="4">
                  <c:v>7.8799999999999995E-2</c:v>
                </c:pt>
                <c:pt idx="5">
                  <c:v>8.7800000000000003E-2</c:v>
                </c:pt>
                <c:pt idx="6">
                  <c:v>3.0800000000000001E-2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27-47CE-A21F-6A49FEBE8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Allstate Premiums Written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Premiums ($M)</c:v>
                </c:pt>
              </c:strCache>
            </c:strRef>
          </c:tx>
          <c:spPr>
            <a:ln w="31750" cap="flat">
              <a:solidFill>
                <a:srgbClr val="1682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829E"/>
              </a:solidFill>
              <a:ln w="9525" cap="flat">
                <a:solidFill>
                  <a:srgbClr val="16829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1269.4380000000001</c:v>
                </c:pt>
                <c:pt idx="1">
                  <c:v>1194.346</c:v>
                </c:pt>
                <c:pt idx="2">
                  <c:v>1127.18</c:v>
                </c:pt>
                <c:pt idx="3">
                  <c:v>1047.68</c:v>
                </c:pt>
                <c:pt idx="4">
                  <c:v>952.202</c:v>
                </c:pt>
                <c:pt idx="5">
                  <c:v>865.75900000000001</c:v>
                </c:pt>
                <c:pt idx="6">
                  <c:v>747.43100000000004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7B-4327-86F0-74488524B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GEICO General</c:v>
                </c:pt>
              </c:strCache>
            </c:strRef>
          </c:tx>
          <c:spPr>
            <a:ln w="28575" cap="flat">
              <a:solidFill>
                <a:srgbClr val="2C7FB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C7FB8"/>
              </a:solidFill>
              <a:ln w="9525" cap="flat">
                <a:solidFill>
                  <a:srgbClr val="2C7FB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1.2200000000000001E-2</c:v>
                </c:pt>
                <c:pt idx="1">
                  <c:v>1.5599999999999999E-2</c:v>
                </c:pt>
                <c:pt idx="2">
                  <c:v>1.0699999999999999E-2</c:v>
                </c:pt>
                <c:pt idx="3">
                  <c:v>7.6E-3</c:v>
                </c:pt>
                <c:pt idx="4">
                  <c:v>1.03E-2</c:v>
                </c:pt>
                <c:pt idx="5">
                  <c:v>2.2800000000000001E-2</c:v>
                </c:pt>
                <c:pt idx="6">
                  <c:v>1.09E-2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6A-4052-A508-23E157F9FB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State Farm</c:v>
                </c:pt>
              </c:strCache>
            </c:strRef>
          </c:tx>
          <c:spPr>
            <a:ln w="28575" cap="flat">
              <a:solidFill>
                <a:srgbClr val="D95F0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95F02"/>
              </a:solidFill>
              <a:ln w="9525" cap="flat">
                <a:solidFill>
                  <a:srgbClr val="D95F0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6.2300000000000001E-2</c:v>
                </c:pt>
                <c:pt idx="1">
                  <c:v>3.61E-2</c:v>
                </c:pt>
                <c:pt idx="2">
                  <c:v>2.4799999999999999E-2</c:v>
                </c:pt>
                <c:pt idx="3">
                  <c:v>2.4400000000000002E-2</c:v>
                </c:pt>
                <c:pt idx="4">
                  <c:v>2.5000000000000001E-2</c:v>
                </c:pt>
                <c:pt idx="5">
                  <c:v>4.2700000000000002E-2</c:v>
                </c:pt>
                <c:pt idx="6">
                  <c:v>3.1399999999999997E-2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6A-4052-A508-23E157F9FB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Allstate</c:v>
                </c:pt>
              </c:strCache>
            </c:strRef>
          </c:tx>
          <c:spPr>
            <a:ln w="28575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0.14180000000000001</c:v>
                </c:pt>
                <c:pt idx="1">
                  <c:v>0.14230000000000001</c:v>
                </c:pt>
                <c:pt idx="2">
                  <c:v>8.6099999999999996E-2</c:v>
                </c:pt>
                <c:pt idx="3">
                  <c:v>0.11070000000000001</c:v>
                </c:pt>
                <c:pt idx="4">
                  <c:v>7.8799999999999995E-2</c:v>
                </c:pt>
                <c:pt idx="5">
                  <c:v>8.7800000000000003E-2</c:v>
                </c:pt>
                <c:pt idx="6">
                  <c:v>3.0800000000000001E-2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6A-4052-A508-23E157F9FB5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Progressive</c:v>
                </c:pt>
              </c:strCache>
            </c:strRef>
          </c:tx>
          <c:spPr>
            <a:ln w="28575" cap="flat">
              <a:solidFill>
                <a:srgbClr val="1A985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9850"/>
              </a:solidFill>
              <a:ln w="9525" cap="flat">
                <a:solidFill>
                  <a:srgbClr val="1A985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0.15229999999999999</c:v>
                </c:pt>
                <c:pt idx="1">
                  <c:v>0.13880000000000001</c:v>
                </c:pt>
                <c:pt idx="2">
                  <c:v>9.1600000000000001E-2</c:v>
                </c:pt>
                <c:pt idx="3">
                  <c:v>1.3100000000000001E-2</c:v>
                </c:pt>
                <c:pt idx="4">
                  <c:v>5.0900000000000001E-2</c:v>
                </c:pt>
                <c:pt idx="5">
                  <c:v>0.03</c:v>
                </c:pt>
                <c:pt idx="6">
                  <c:v>9.1999999999999998E-3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56A-4052-A508-23E157F9FB5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Liberty Mutual</c:v>
                </c:pt>
              </c:strCache>
            </c:strRef>
          </c:tx>
          <c:spPr>
            <a:ln w="28575" cap="flat">
              <a:solidFill>
                <a:srgbClr val="7B329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7B3294"/>
              </a:solidFill>
              <a:ln w="9525" cap="flat">
                <a:solidFill>
                  <a:srgbClr val="7B329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4.5699999999999998E-2</c:v>
                </c:pt>
                <c:pt idx="1">
                  <c:v>5.4699999999999999E-2</c:v>
                </c:pt>
                <c:pt idx="2">
                  <c:v>3.2500000000000001E-2</c:v>
                </c:pt>
                <c:pt idx="3">
                  <c:v>2.81E-2</c:v>
                </c:pt>
                <c:pt idx="4">
                  <c:v>3.8800000000000001E-2</c:v>
                </c:pt>
                <c:pt idx="5">
                  <c:v>6.6400000000000001E-2</c:v>
                </c:pt>
                <c:pt idx="6">
                  <c:v>1.6400000000000001E-2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6A-4052-A508-23E157F9F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98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chart" Target="../charts/char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chart" Target="../charts/char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011680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 INSURANCE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RANKINGS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Diagnostic &amp; Premium Trend Analysis — Allstate Insurance Company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State Department of Financial Services (DFS) auto insurance complaint data, 2009–2016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28016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Slide 1">
            <a:hlinkClick r:id="" action="ppaction://media"/>
            <a:extLst>
              <a:ext uri="{FF2B5EF4-FFF2-40B4-BE49-F238E27FC236}">
                <a16:creationId xmlns:a16="http://schemas.microsoft.com/office/drawing/2014/main" id="{95C0B7FC-91D9-81B9-1BCC-725BD97BE8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01589" y="6291619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3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DFS complaint-ranking data to build a complaint diagnostic and premium trend analysis for a chosen company, plus a 5-company comparison dashboard.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Company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Allstate Insurance Company — selected for its complete 2009–2015 filing history and a clear, analyzable complaint/premium trend.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Set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GEICO General, State Farm, Progressive Casualty, Liberty Mutual Fire.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03720" y="123444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Note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0116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2016 filing-year records in this dataset are exact duplicates of 2015 for every company — identical complaint counts, premiums, and ratios. This analysis treats 2009–2015 as the effective trend window.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8" name="Slide 2">
            <a:hlinkClick r:id="" action="ppaction://media"/>
            <a:extLst>
              <a:ext uri="{FF2B5EF4-FFF2-40B4-BE49-F238E27FC236}">
                <a16:creationId xmlns:a16="http://schemas.microsoft.com/office/drawing/2014/main" id="{0585971B-EA81-FF73-ED24-3B2B317BCB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14746" y="633999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9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Diagnostic — Composition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52360" y="137160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Allstate's complaints are Upheld, vs. 11.7% industry-wide
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Question of Fact, vs. 31.9% industry-wide — Allstate's largest gap to the market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Slide 3">
            <a:hlinkClick r:id="" action="ppaction://media"/>
            <a:extLst>
              <a:ext uri="{FF2B5EF4-FFF2-40B4-BE49-F238E27FC236}">
                <a16:creationId xmlns:a16="http://schemas.microsoft.com/office/drawing/2014/main" id="{35436848-BFEE-E1DF-7C45-A5F0CCA9ED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58600" y="638463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6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Diagnostic — Trend (2009–2015)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172200" y="118872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complaints fell 76.8% and the complaint ratio fell 78.3% from 2009 to 2015. 2010 was the peak year, driven by a spike in Question-of-Fact cases; the decline has been fairly steady since 2011.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Slide 4">
            <a:hlinkClick r:id="" action="ppaction://media"/>
            <a:extLst>
              <a:ext uri="{FF2B5EF4-FFF2-40B4-BE49-F238E27FC236}">
                <a16:creationId xmlns:a16="http://schemas.microsoft.com/office/drawing/2014/main" id="{467C0F6D-9743-8EF3-614D-3EDB42AF95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43049" y="6365972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9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 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82050"/>
          </a:solidFill>
          <a:ln w="12700">
            <a:solidFill>
              <a:srgbClr val="3540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Allstate's 2015 ratio (0.0308) is roughly 3x GEICO General's (0.0109)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82050"/>
          </a:solidFill>
          <a:ln w="12700">
            <a:solidFill>
              <a:srgbClr val="354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Allstate's complaints are Question of Fact — its largest category and biggest gap to market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182050"/>
          </a:solidFill>
          <a:ln w="12700">
            <a:solidFill>
              <a:srgbClr val="354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743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faster, clearer no-fault claims documentation to cut ambiguous outcomes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54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Allstate's multi-year improvement is real, but it remains above GEICO's and Progressive's complaint ratios even after the decline.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5" name="Slide 5">
            <a:hlinkClick r:id="" action="ppaction://media"/>
            <a:extLst>
              <a:ext uri="{FF2B5EF4-FFF2-40B4-BE49-F238E27FC236}">
                <a16:creationId xmlns:a16="http://schemas.microsoft.com/office/drawing/2014/main" id="{ED16C28D-C66E-641D-EE43-172C6E99AE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70425" y="637063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26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Premiums Written — Trend &amp; Causes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8016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8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-41.1%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decline, 2009–2015 ($1,269M → $747M)
</a:t>
            </a:r>
            <a:endParaRPr lang="en-US" sz="2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causes:
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No-fault claims volatility (2009–2011) drove disputes, then eased
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NY regulatory tightening on no-fault/PIP claims verification
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share shift toward lower-priced direct writers
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Post-2008 recession softened demand early in the period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Slide 6">
            <a:hlinkClick r:id="" action="ppaction://media"/>
            <a:extLst>
              <a:ext uri="{FF2B5EF4-FFF2-40B4-BE49-F238E27FC236}">
                <a16:creationId xmlns:a16="http://schemas.microsoft.com/office/drawing/2014/main" id="{A55CA0E3-5B5D-7E92-A4BB-12D5433989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06660" y="633999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9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Five-Company Dashboard — Complaint Ratio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Slide 7">
            <a:hlinkClick r:id="" action="ppaction://media"/>
            <a:extLst>
              <a:ext uri="{FF2B5EF4-FFF2-40B4-BE49-F238E27FC236}">
                <a16:creationId xmlns:a16="http://schemas.microsoft.com/office/drawing/2014/main" id="{1DA8E492-6C84-2457-6FC7-48912015E8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636504" y="637063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Five-Company Dashboard — 2015 Snapshot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515600" cy="23774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Complaint Ratio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Complaints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Premiums ($M)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DFS Rank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GEICO General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0.0109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2,199.9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State Farm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0.0314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1,434.0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Allstate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0.0308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747.4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Progressive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0.0092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432.7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Liberty Mutual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0.0164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304.6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4114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and GEICO General post the strongest complaint-to-scale performance. Allstate and State Farm sit close together at the higher end — roughly 3x GEICO's ratio. All five companies trended downward from 2009–2015, showing the improvement is partly market-wide.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" name="Slide 8">
            <a:hlinkClick r:id="" action="ppaction://media"/>
            <a:extLst>
              <a:ext uri="{FF2B5EF4-FFF2-40B4-BE49-F238E27FC236}">
                <a16:creationId xmlns:a16="http://schemas.microsoft.com/office/drawing/2014/main" id="{BD9BC20F-0F30-9E29-A41B-C32455F4C3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27174" y="633999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Allstate's NY auto complaint experience improved substantially, 2009–2015, in step with a broader industry-wide decline.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came alongside a 41% shrinking premium base, not purely a service-quality gain.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peers, Allstate's complaint ratio remains above GEICO's and Progressive's — Question-of-Fact complaints are the clearest area for continued improvement.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Slide 9">
            <a:hlinkClick r:id="" action="ppaction://media"/>
            <a:extLst>
              <a:ext uri="{FF2B5EF4-FFF2-40B4-BE49-F238E27FC236}">
                <a16:creationId xmlns:a16="http://schemas.microsoft.com/office/drawing/2014/main" id="{30AD7700-7F2F-5C3A-272D-B1C74FD7F3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36505" y="633999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550</Words>
  <Application>Microsoft Office PowerPoint</Application>
  <PresentationFormat>Widescreen</PresentationFormat>
  <Paragraphs>94</Paragraphs>
  <Slides>9</Slides>
  <Notes>9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Eediga Sai Manideepa</cp:lastModifiedBy>
  <cp:revision>2</cp:revision>
  <dcterms:created xsi:type="dcterms:W3CDTF">2026-09-23T05:28:46Z</dcterms:created>
  <dcterms:modified xsi:type="dcterms:W3CDTF">2026-10-01T14:06:05Z</dcterms:modified>
</cp:coreProperties>
</file>